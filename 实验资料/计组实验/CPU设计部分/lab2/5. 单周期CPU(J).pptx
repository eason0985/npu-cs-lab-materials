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31" r:id="rId3"/>
    <p:sldId id="327" r:id="rId4"/>
    <p:sldId id="304" r:id="rId5"/>
    <p:sldId id="319" r:id="rId6"/>
    <p:sldId id="328" r:id="rId7"/>
    <p:sldId id="307" r:id="rId8"/>
    <p:sldId id="309" r:id="rId9"/>
    <p:sldId id="320" r:id="rId10"/>
    <p:sldId id="329" r:id="rId11"/>
    <p:sldId id="311" r:id="rId12"/>
    <p:sldId id="312" r:id="rId13"/>
    <p:sldId id="321" r:id="rId14"/>
    <p:sldId id="330" r:id="rId15"/>
    <p:sldId id="315" r:id="rId16"/>
    <p:sldId id="333" r:id="rId17"/>
    <p:sldId id="33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86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92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11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34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473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7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7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039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63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48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322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31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524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88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67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82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1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132" y="2425022"/>
            <a:ext cx="9252334" cy="13785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dirty="0"/>
            </a:br>
            <a:br>
              <a:rPr lang="en-US" altLang="zh-CN" dirty="0"/>
            </a:br>
            <a:r>
              <a:rPr lang="zh-CN" altLang="en-US" b="1" dirty="0"/>
              <a:t>增加实现跳转指令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1325563"/>
          </a:xfrm>
        </p:spPr>
        <p:txBody>
          <a:bodyPr/>
          <a:lstStyle/>
          <a:p>
            <a:r>
              <a:rPr lang="zh-CN" altLang="en-US" dirty="0"/>
              <a:t>跳转指令分类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38086"/>
            <a:ext cx="10515600" cy="5330880"/>
          </a:xfrm>
        </p:spPr>
        <p:txBody>
          <a:bodyPr>
            <a:noAutofit/>
          </a:bodyPr>
          <a:lstStyle/>
          <a:p>
            <a:r>
              <a:rPr lang="zh-CN" altLang="en-US" sz="2800" b="1" dirty="0"/>
              <a:t>段内绝对跳转指令：</a:t>
            </a:r>
            <a:r>
              <a:rPr lang="en-US" altLang="zh-CN" sz="2800" b="1" dirty="0"/>
              <a:t>j  </a:t>
            </a:r>
            <a:r>
              <a:rPr lang="en-US" altLang="zh-CN" sz="2800" b="1" dirty="0" err="1"/>
              <a:t>jal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指令的低</a:t>
            </a:r>
            <a:r>
              <a:rPr lang="en-US" altLang="zh-CN" sz="2400" dirty="0">
                <a:solidFill>
                  <a:srgbClr val="FF0000"/>
                </a:solidFill>
              </a:rPr>
              <a:t>26</a:t>
            </a:r>
            <a:r>
              <a:rPr lang="zh-CN" altLang="en-US" sz="2400" dirty="0"/>
              <a:t>位用于目标地址的编址。因为目标地址的最低</a:t>
            </a:r>
            <a:r>
              <a:rPr lang="en-US" altLang="zh-CN" sz="2400" dirty="0"/>
              <a:t>2</a:t>
            </a:r>
            <a:r>
              <a:rPr lang="zh-CN" altLang="en-US" sz="2400" dirty="0"/>
              <a:t>位不需要存储（确定是</a:t>
            </a:r>
            <a:r>
              <a:rPr lang="en-US" altLang="zh-CN" sz="2400" dirty="0"/>
              <a:t>2’b00</a:t>
            </a:r>
            <a:r>
              <a:rPr lang="zh-CN" altLang="en-US" sz="2400" dirty="0"/>
              <a:t>），所以实际可寻址范围为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28</a:t>
            </a:r>
            <a:r>
              <a:rPr lang="en-US" altLang="zh-CN" sz="2400" dirty="0"/>
              <a:t>=256MB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800" b="1" dirty="0"/>
              <a:t>寄存器跳转指令</a:t>
            </a:r>
            <a:r>
              <a:rPr lang="en-US" altLang="zh-CN" sz="2800" b="1" dirty="0"/>
              <a:t>:   </a:t>
            </a:r>
            <a:r>
              <a:rPr lang="en-US" altLang="zh-CN" sz="2800" b="1" dirty="0" err="1"/>
              <a:t>jr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目标地址存放在寄存器中，所以可以跳转到任意</a:t>
            </a:r>
            <a:r>
              <a:rPr lang="en-US" altLang="zh-CN" sz="2400" dirty="0"/>
              <a:t>32</a:t>
            </a:r>
            <a:r>
              <a:rPr lang="zh-CN" altLang="en-US" sz="2400" dirty="0"/>
              <a:t>位目标地址，是一种绝对跳转指令。</a:t>
            </a:r>
            <a:endParaRPr lang="en-US" altLang="zh-CN" sz="2400" dirty="0"/>
          </a:p>
          <a:p>
            <a:r>
              <a:rPr lang="zh-CN" altLang="en-US" sz="2800" b="1" dirty="0"/>
              <a:t>相对跳转指令</a:t>
            </a:r>
            <a:r>
              <a:rPr lang="en-US" altLang="zh-CN" sz="2800" b="1" dirty="0"/>
              <a:t>:  </a:t>
            </a:r>
            <a:r>
              <a:rPr lang="en-US" altLang="zh-CN" sz="2800" b="1" dirty="0" err="1"/>
              <a:t>beq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指令低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en-US" altLang="zh-CN" sz="2400" dirty="0"/>
              <a:t> </a:t>
            </a:r>
            <a:r>
              <a:rPr lang="zh-CN" altLang="en-US" sz="2400" dirty="0"/>
              <a:t>位为相对下条指令的地址的偏移地址（</a:t>
            </a:r>
            <a:r>
              <a:rPr lang="zh-CN" altLang="en-US" sz="2400" b="1" dirty="0"/>
              <a:t>有符号</a:t>
            </a:r>
            <a:r>
              <a:rPr lang="zh-CN" altLang="en-US" sz="2400" dirty="0"/>
              <a:t>偏移量）。同样地，偏移地址的最低两位也不需要存储，因此可支持的跳转范围实际上是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18</a:t>
            </a:r>
            <a:r>
              <a:rPr lang="en-US" altLang="zh-CN" sz="2400" dirty="0"/>
              <a:t>=256KB</a:t>
            </a:r>
            <a:r>
              <a:rPr lang="zh-CN" altLang="en-US" sz="2400" dirty="0"/>
              <a:t>（相对</a:t>
            </a:r>
            <a:r>
              <a:rPr lang="en-US" altLang="zh-CN" sz="2400" dirty="0"/>
              <a:t>PC</a:t>
            </a:r>
            <a:r>
              <a:rPr lang="zh-CN" altLang="en-US" sz="2400" dirty="0"/>
              <a:t>的</a:t>
            </a:r>
            <a:r>
              <a:rPr lang="en-US" altLang="zh-CN" sz="2400" dirty="0"/>
              <a:t>-128KB~+127KB</a:t>
            </a:r>
            <a:r>
              <a:rPr lang="zh-CN" altLang="en-US" sz="2400" dirty="0"/>
              <a:t>）。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214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指令，确定复用部分和需要增加的硬件功能；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33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/>
            </a:pPr>
            <a:r>
              <a:rPr lang="en-US" altLang="zh-CN" b="1" dirty="0"/>
              <a:t>j </a:t>
            </a:r>
            <a:r>
              <a:rPr lang="zh-CN" altLang="en-US" b="1" dirty="0"/>
              <a:t>和 </a:t>
            </a:r>
            <a:r>
              <a:rPr lang="en-US" altLang="zh-CN" b="1" dirty="0" err="1"/>
              <a:t>jal</a:t>
            </a:r>
            <a:r>
              <a:rPr lang="en-US" altLang="zh-CN" b="1" dirty="0"/>
              <a:t> 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420867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27313"/>
            <a:ext cx="10965873" cy="1159741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8892"/>
              </p:ext>
            </p:extLst>
          </p:nvPr>
        </p:nvGraphicFramePr>
        <p:xfrm>
          <a:off x="679449" y="2427515"/>
          <a:ext cx="10833101" cy="1846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371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4468586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3712030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25~0                                                             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361857"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 target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{PC[31..28 ],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,2’b00}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000010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  <a:tr h="356900"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jal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target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①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GPR[31]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+ 4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②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{PC[31..28 ],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,2’b00}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000011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24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zh-CN" altLang="en-US" sz="2800" dirty="0">
                <a:solidFill>
                  <a:schemeClr val="dk1"/>
                </a:solidFill>
              </a:rPr>
              <a:t>一种</a:t>
            </a:r>
            <a:r>
              <a:rPr lang="zh-CN" altLang="en-US" sz="2800" dirty="0"/>
              <a:t>新的指令格式；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：指令执行流程和先前实现的指令不同。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	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</a:t>
            </a:r>
            <a:r>
              <a:rPr lang="zh-CN" altLang="en-US" sz="2800" dirty="0">
                <a:solidFill>
                  <a:srgbClr val="00B050"/>
                </a:solidFill>
              </a:rPr>
              <a:t>写</a:t>
            </a:r>
            <a:r>
              <a:rPr lang="en-US" altLang="zh-CN" sz="2800" dirty="0">
                <a:solidFill>
                  <a:srgbClr val="00B050"/>
                </a:solidFill>
              </a:rPr>
              <a:t>GPR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：求跳转地址；</a:t>
            </a:r>
            <a:r>
              <a:rPr lang="en-US" altLang="zh-CN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/>
              <a:t>GPR</a:t>
            </a:r>
            <a:r>
              <a:rPr lang="zh-CN" altLang="en-US" sz="2800" dirty="0"/>
              <a:t>写端口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写返回地址到</a:t>
            </a:r>
            <a:r>
              <a:rPr lang="en-US" altLang="zh-CN" sz="2800" dirty="0"/>
              <a:t>31</a:t>
            </a:r>
            <a:r>
              <a:rPr lang="zh-CN" altLang="en-US" sz="2800" dirty="0"/>
              <a:t>号寄存器；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       PC</a:t>
            </a:r>
            <a:r>
              <a:rPr lang="zh-CN" altLang="en-US" sz="2800" dirty="0"/>
              <a:t>模块的输入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跳转地址。</a:t>
            </a:r>
            <a:endParaRPr lang="en-US" altLang="zh-CN" sz="28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F1C049-3E8E-31DF-86AD-8106B3EC857F}"/>
              </a:ext>
            </a:extLst>
          </p:cNvPr>
          <p:cNvGrpSpPr/>
          <p:nvPr/>
        </p:nvGrpSpPr>
        <p:grpSpPr>
          <a:xfrm>
            <a:off x="1108939" y="2878114"/>
            <a:ext cx="8923181" cy="1274711"/>
            <a:chOff x="1193022" y="2604845"/>
            <a:chExt cx="8923181" cy="1274711"/>
          </a:xfrm>
        </p:grpSpPr>
        <p:grpSp>
          <p:nvGrpSpPr>
            <p:cNvPr id="12" name="组合 11"/>
            <p:cNvGrpSpPr/>
            <p:nvPr/>
          </p:nvGrpSpPr>
          <p:grpSpPr>
            <a:xfrm>
              <a:off x="4202546" y="2977645"/>
              <a:ext cx="4610378" cy="378691"/>
              <a:chOff x="1976582" y="3205018"/>
              <a:chExt cx="4073236" cy="378691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1976582" y="3205018"/>
                <a:ext cx="0" cy="37869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976582" y="3583709"/>
                <a:ext cx="40732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H="1" flipV="1">
                <a:off x="6040582" y="3205018"/>
                <a:ext cx="9236" cy="37869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5885875" y="3356336"/>
              <a:ext cx="16810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j</a:t>
              </a:r>
              <a:r>
                <a:rPr lang="zh-CN" altLang="en-US" sz="2800" dirty="0"/>
                <a:t>指令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AF14BCD-5816-0B06-71E9-EB5094362F77}"/>
                </a:ext>
              </a:extLst>
            </p:cNvPr>
            <p:cNvSpPr txBox="1"/>
            <p:nvPr/>
          </p:nvSpPr>
          <p:spPr>
            <a:xfrm>
              <a:off x="1193022" y="2604845"/>
              <a:ext cx="89231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取指→求跳转地址→</a:t>
              </a:r>
              <a:r>
                <a:rPr lang="zh-CN" altLang="en-US" sz="2800" dirty="0">
                  <a:solidFill>
                    <a:srgbClr val="00B050"/>
                  </a:solidFill>
                </a:rPr>
                <a:t>保存返回地址</a:t>
              </a:r>
              <a:r>
                <a:rPr lang="zh-CN" altLang="en-US" sz="2800" dirty="0"/>
                <a:t>（</a:t>
              </a:r>
              <a:r>
                <a:rPr lang="en-US" altLang="zh-CN" sz="2800" dirty="0" err="1"/>
                <a:t>jal</a:t>
              </a:r>
              <a:r>
                <a:rPr lang="zh-CN" altLang="en-US" sz="2800" dirty="0"/>
                <a:t>指令）→跳转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98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FB24F-116F-45A3-93CA-ECB31C51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37" y="39256"/>
            <a:ext cx="10515600" cy="1325563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453434-75AF-65B2-93F6-C8BAB9C8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2" y="910657"/>
            <a:ext cx="11697914" cy="55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3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 startAt="2"/>
            </a:pPr>
            <a:r>
              <a:rPr lang="en-US" altLang="zh-CN" b="1" dirty="0" err="1"/>
              <a:t>jr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41320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36" y="525963"/>
            <a:ext cx="10836564" cy="1136582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169078"/>
              </p:ext>
            </p:extLst>
          </p:nvPr>
        </p:nvGraphicFramePr>
        <p:xfrm>
          <a:off x="704849" y="2163755"/>
          <a:ext cx="10344151" cy="1252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39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2566462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73584747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44706948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82804909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82911275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20~16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15~11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10~6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5~0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shamt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funct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4110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rs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GPR[rs]	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001000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615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58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R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：指令执行流程：取指→读</a:t>
            </a:r>
            <a:r>
              <a:rPr lang="en-US" altLang="zh-CN" sz="2800" dirty="0" err="1"/>
              <a:t>rs</a:t>
            </a:r>
            <a:r>
              <a:rPr lang="zh-CN" altLang="en-US" sz="2800" dirty="0"/>
              <a:t>寄存器→跳转。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</a:t>
            </a:r>
            <a:r>
              <a:rPr lang="en-US" altLang="zh-CN" sz="2800" dirty="0"/>
              <a:t>PC</a:t>
            </a:r>
            <a:r>
              <a:rPr lang="zh-CN" altLang="en-US" sz="2800" dirty="0"/>
              <a:t>模块的输入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rs</a:t>
            </a:r>
            <a:r>
              <a:rPr lang="zh-CN" altLang="en-US" sz="2800" dirty="0"/>
              <a:t>寄存器的值。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80695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C806C-DEF0-4F31-95CD-DB9D9346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90" y="295274"/>
            <a:ext cx="10515600" cy="1054100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98DF61-AEE1-CD34-619A-21937DC8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96" y="958962"/>
            <a:ext cx="11612617" cy="560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 startAt="3"/>
            </a:pPr>
            <a:r>
              <a:rPr lang="en-US" altLang="zh-CN" b="1" dirty="0" err="1"/>
              <a:t>beq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394481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74" y="521278"/>
            <a:ext cx="11058236" cy="1122795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39703"/>
              </p:ext>
            </p:extLst>
          </p:nvPr>
        </p:nvGraphicFramePr>
        <p:xfrm>
          <a:off x="381000" y="2118398"/>
          <a:ext cx="11430000" cy="2029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900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4498427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961697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893379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919655">
                  <a:extLst>
                    <a:ext uri="{9D8B030D-6E8A-4147-A177-3AD203B41FA5}">
                      <a16:colId xmlns:a16="http://schemas.microsoft.com/office/drawing/2014/main" val="735847477"/>
                    </a:ext>
                  </a:extLst>
                </a:gridCol>
                <a:gridCol w="2236942">
                  <a:extLst>
                    <a:ext uri="{9D8B030D-6E8A-4147-A177-3AD203B41FA5}">
                      <a16:colId xmlns:a16="http://schemas.microsoft.com/office/drawing/2014/main" val="364523192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20~16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~ 0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beq rs, rt, offset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(GPR[rs] == GPR[rt])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PC + 4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(offset)&lt;&lt;2)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 + 4	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000100 	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367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27" y="1156137"/>
            <a:ext cx="11190890" cy="51500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I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，立即数扩展，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减法功能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：计算分支地址；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b="1" dirty="0">
                <a:solidFill>
                  <a:schemeClr val="accent2"/>
                </a:solidFill>
              </a:rPr>
              <a:t>增加</a:t>
            </a:r>
            <a:r>
              <a:rPr lang="zh-CN" altLang="en-US" sz="2800" dirty="0">
                <a:solidFill>
                  <a:schemeClr val="accent2"/>
                </a:solidFill>
              </a:rPr>
              <a:t>判断功能</a:t>
            </a:r>
            <a:r>
              <a:rPr lang="zh-CN" altLang="en-US" sz="2800" dirty="0"/>
              <a:t>；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二选一选择器确定目的地址是分支地址还是顺序地址；</a:t>
            </a:r>
            <a:r>
              <a:rPr lang="en-US" altLang="zh-CN" sz="2800" dirty="0"/>
              <a:t>pc</a:t>
            </a:r>
            <a:r>
              <a:rPr lang="zh-CN" altLang="en-US" sz="2800" dirty="0"/>
              <a:t>模块输入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beq</a:t>
            </a:r>
            <a:r>
              <a:rPr lang="zh-CN" altLang="en-US" sz="2800" dirty="0"/>
              <a:t>指令目标地址。</a:t>
            </a:r>
            <a:endParaRPr lang="en-US" altLang="zh-CN" sz="28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F2603BC-EE84-21D0-8F93-CC0048EB47F1}"/>
              </a:ext>
            </a:extLst>
          </p:cNvPr>
          <p:cNvGrpSpPr/>
          <p:nvPr/>
        </p:nvGrpSpPr>
        <p:grpSpPr>
          <a:xfrm>
            <a:off x="765504" y="2781845"/>
            <a:ext cx="9082689" cy="1204486"/>
            <a:chOff x="891628" y="3013073"/>
            <a:chExt cx="9082689" cy="1204486"/>
          </a:xfrm>
        </p:grpSpPr>
        <p:sp>
          <p:nvSpPr>
            <p:cNvPr id="4" name="文本框 3"/>
            <p:cNvSpPr txBox="1"/>
            <p:nvPr/>
          </p:nvSpPr>
          <p:spPr>
            <a:xfrm>
              <a:off x="4827944" y="3013073"/>
              <a:ext cx="218901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计算分支地址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12110" y="3013074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立即数扩展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2F735F-36F9-B173-77CE-5168CD4E466A}"/>
                </a:ext>
              </a:extLst>
            </p:cNvPr>
            <p:cNvSpPr txBox="1"/>
            <p:nvPr/>
          </p:nvSpPr>
          <p:spPr>
            <a:xfrm>
              <a:off x="2212110" y="3725116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读源操作数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1594E8-02A7-AE63-BB01-ECDB4C05F58E}"/>
                </a:ext>
              </a:extLst>
            </p:cNvPr>
            <p:cNvSpPr txBox="1"/>
            <p:nvPr/>
          </p:nvSpPr>
          <p:spPr>
            <a:xfrm>
              <a:off x="4242676" y="3429000"/>
              <a:ext cx="61987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→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7D81F6A-F701-7D7C-7B5C-3BC79B7FA5C5}"/>
                </a:ext>
              </a:extLst>
            </p:cNvPr>
            <p:cNvSpPr txBox="1"/>
            <p:nvPr/>
          </p:nvSpPr>
          <p:spPr>
            <a:xfrm>
              <a:off x="891628" y="3369095"/>
              <a:ext cx="13204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取指 →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4C7464-6F80-95DA-9DB9-CBDB2760CE82}"/>
                </a:ext>
              </a:extLst>
            </p:cNvPr>
            <p:cNvSpPr txBox="1"/>
            <p:nvPr/>
          </p:nvSpPr>
          <p:spPr>
            <a:xfrm>
              <a:off x="5259302" y="3725116"/>
              <a:ext cx="994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>
                  <a:solidFill>
                    <a:schemeClr val="accent2"/>
                  </a:solidFill>
                </a:rPr>
                <a:t>判断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C7C1D1-B6FF-8C5E-414E-D330E1C722C9}"/>
                </a:ext>
              </a:extLst>
            </p:cNvPr>
            <p:cNvSpPr txBox="1"/>
            <p:nvPr/>
          </p:nvSpPr>
          <p:spPr>
            <a:xfrm>
              <a:off x="6838444" y="3339689"/>
              <a:ext cx="3135873" cy="63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/>
                <a:t>→ 跳转或顺序执行</a:t>
              </a:r>
              <a:endParaRPr lang="en-US" altLang="zh-CN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411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71D72-45FA-46ED-96FA-DCCB51BD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186170"/>
            <a:ext cx="11009746" cy="1025525"/>
          </a:xfrm>
        </p:spPr>
        <p:txBody>
          <a:bodyPr/>
          <a:lstStyle/>
          <a:p>
            <a:r>
              <a:rPr lang="zh-CN" altLang="en-US" dirty="0"/>
              <a:t>数据通路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645225-1187-945B-2434-121F5AEA2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29" y="368324"/>
            <a:ext cx="10766924" cy="621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29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27" y="1156137"/>
            <a:ext cx="11190890" cy="51500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I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，立即数扩展，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加法功能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：判断功能；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输入</a:t>
            </a:r>
            <a:r>
              <a:rPr lang="en-US" altLang="zh-CN" sz="2800" dirty="0">
                <a:solidFill>
                  <a:schemeClr val="accent2"/>
                </a:solidFill>
              </a:rPr>
              <a:t>1</a:t>
            </a:r>
            <a:r>
              <a:rPr lang="zh-CN" altLang="en-US" sz="2800" dirty="0">
                <a:solidFill>
                  <a:schemeClr val="accent2"/>
                </a:solidFill>
              </a:rPr>
              <a:t>增加</a:t>
            </a:r>
            <a:r>
              <a:rPr lang="en-US" altLang="zh-CN" sz="2800" dirty="0">
                <a:solidFill>
                  <a:schemeClr val="accent2"/>
                </a:solidFill>
              </a:rPr>
              <a:t>pc+4</a:t>
            </a:r>
            <a:r>
              <a:rPr lang="zh-CN" altLang="en-US" sz="2800" dirty="0"/>
              <a:t>；</a:t>
            </a:r>
            <a:r>
              <a:rPr lang="en-US" altLang="zh-CN" sz="2800" dirty="0"/>
              <a:t>pc</a:t>
            </a:r>
            <a:r>
              <a:rPr lang="zh-CN" altLang="en-US" sz="2800" dirty="0"/>
              <a:t>模块输入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beq</a:t>
            </a:r>
            <a:r>
              <a:rPr lang="zh-CN" altLang="en-US" sz="2800" dirty="0"/>
              <a:t>指令分支地址。</a:t>
            </a:r>
            <a:endParaRPr lang="en-US" altLang="zh-CN" sz="28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F2603BC-EE84-21D0-8F93-CC0048EB47F1}"/>
              </a:ext>
            </a:extLst>
          </p:cNvPr>
          <p:cNvGrpSpPr/>
          <p:nvPr/>
        </p:nvGrpSpPr>
        <p:grpSpPr>
          <a:xfrm>
            <a:off x="765504" y="2781845"/>
            <a:ext cx="9082689" cy="1204486"/>
            <a:chOff x="891628" y="3013073"/>
            <a:chExt cx="9082689" cy="1204486"/>
          </a:xfrm>
        </p:grpSpPr>
        <p:sp>
          <p:nvSpPr>
            <p:cNvPr id="4" name="文本框 3"/>
            <p:cNvSpPr txBox="1"/>
            <p:nvPr/>
          </p:nvSpPr>
          <p:spPr>
            <a:xfrm>
              <a:off x="4827944" y="3013073"/>
              <a:ext cx="218901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>
                  <a:solidFill>
                    <a:schemeClr val="accent2"/>
                  </a:solidFill>
                </a:rPr>
                <a:t>计算分支地址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12110" y="3013074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立即数扩展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2F735F-36F9-B173-77CE-5168CD4E466A}"/>
                </a:ext>
              </a:extLst>
            </p:cNvPr>
            <p:cNvSpPr txBox="1"/>
            <p:nvPr/>
          </p:nvSpPr>
          <p:spPr>
            <a:xfrm>
              <a:off x="2212110" y="3725116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读源操作数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1594E8-02A7-AE63-BB01-ECDB4C05F58E}"/>
                </a:ext>
              </a:extLst>
            </p:cNvPr>
            <p:cNvSpPr txBox="1"/>
            <p:nvPr/>
          </p:nvSpPr>
          <p:spPr>
            <a:xfrm>
              <a:off x="4242676" y="3429000"/>
              <a:ext cx="61987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→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7D81F6A-F701-7D7C-7B5C-3BC79B7FA5C5}"/>
                </a:ext>
              </a:extLst>
            </p:cNvPr>
            <p:cNvSpPr txBox="1"/>
            <p:nvPr/>
          </p:nvSpPr>
          <p:spPr>
            <a:xfrm>
              <a:off x="891628" y="3369095"/>
              <a:ext cx="13204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取指 →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4C7464-6F80-95DA-9DB9-CBDB2760CE82}"/>
                </a:ext>
              </a:extLst>
            </p:cNvPr>
            <p:cNvSpPr txBox="1"/>
            <p:nvPr/>
          </p:nvSpPr>
          <p:spPr>
            <a:xfrm>
              <a:off x="5259302" y="3725116"/>
              <a:ext cx="994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判断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C7C1D1-B6FF-8C5E-414E-D330E1C722C9}"/>
                </a:ext>
              </a:extLst>
            </p:cNvPr>
            <p:cNvSpPr txBox="1"/>
            <p:nvPr/>
          </p:nvSpPr>
          <p:spPr>
            <a:xfrm>
              <a:off x="6838444" y="3339689"/>
              <a:ext cx="3135873" cy="63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/>
                <a:t>→ 跳转或顺序执行</a:t>
              </a:r>
              <a:endParaRPr lang="en-US" altLang="zh-CN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317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2" y="126125"/>
            <a:ext cx="8596668" cy="1320800"/>
          </a:xfrm>
        </p:spPr>
        <p:txBody>
          <a:bodyPr/>
          <a:lstStyle/>
          <a:p>
            <a:r>
              <a:rPr lang="zh-CN" altLang="en-US" dirty="0"/>
              <a:t>数据通路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E0D249-C794-F2EC-9102-B473FEA69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43" y="284445"/>
            <a:ext cx="10547714" cy="628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25776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19463</TotalTime>
  <Words>649</Words>
  <Application>Microsoft Office PowerPoint</Application>
  <PresentationFormat>宽屏</PresentationFormat>
  <Paragraphs>123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宋体</vt:lpstr>
      <vt:lpstr>Arial</vt:lpstr>
      <vt:lpstr>Trebuchet MS</vt:lpstr>
      <vt:lpstr>Wingdings 3</vt:lpstr>
      <vt:lpstr>平面</vt:lpstr>
      <vt:lpstr>  增加实现跳转指令</vt:lpstr>
      <vt:lpstr>跳转指令分类</vt:lpstr>
      <vt:lpstr>实验过程</vt:lpstr>
      <vt:lpstr>j 和 jal 指令</vt:lpstr>
      <vt:lpstr>指令格式</vt:lpstr>
      <vt:lpstr>指令比较分析</vt:lpstr>
      <vt:lpstr>数据通路</vt:lpstr>
      <vt:lpstr>jr指令</vt:lpstr>
      <vt:lpstr>指令格式</vt:lpstr>
      <vt:lpstr>指令比较分析</vt:lpstr>
      <vt:lpstr>数据通路</vt:lpstr>
      <vt:lpstr>beq指令</vt:lpstr>
      <vt:lpstr>指令格式</vt:lpstr>
      <vt:lpstr>指令比较分析1</vt:lpstr>
      <vt:lpstr>数据通路1</vt:lpstr>
      <vt:lpstr>指令比较分析2</vt:lpstr>
      <vt:lpstr>数据通路2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395</cp:revision>
  <dcterms:created xsi:type="dcterms:W3CDTF">2020-03-13T01:07:41Z</dcterms:created>
  <dcterms:modified xsi:type="dcterms:W3CDTF">2026-05-24T05:55:35Z</dcterms:modified>
</cp:coreProperties>
</file>